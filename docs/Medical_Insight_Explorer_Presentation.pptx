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6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7" d="100"/>
          <a:sy n="77" d="100"/>
        </p:scale>
        <p:origin x="1618" y="1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rturMelnyk-analyst/Medical-Insight-Explorer-Agent" TargetMode="External"/><Relationship Id="rId2" Type="http://schemas.openxmlformats.org/officeDocument/2006/relationships/hyperlink" Target="https://huggingface.co/spaces/Artur-Melnyk/Medical-Insight-Explorer-Agent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757084"/>
          </a:xfrm>
        </p:spPr>
        <p:txBody>
          <a:bodyPr>
            <a:noAutofit/>
          </a:bodyPr>
          <a:lstStyle/>
          <a:p>
            <a:r>
              <a:rPr dirty="0"/>
              <a:t>Medical Insight Explorer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12144"/>
            <a:ext cx="9144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dirty="0"/>
              <a:t>Artur Melnyk</a:t>
            </a:r>
          </a:p>
          <a:p>
            <a:pPr algn="ctr"/>
            <a:r>
              <a:rPr lang="en-CA" dirty="0"/>
              <a:t>Applied Data Scientist | Healthcare AI • Analytics • ML Systems</a:t>
            </a:r>
            <a:endParaRPr dirty="0"/>
          </a:p>
          <a:p>
            <a:pPr algn="ctr"/>
            <a:r>
              <a:rPr dirty="0"/>
              <a:t>Bilingual conversational healthcare analytics with deterministic insights.</a:t>
            </a:r>
          </a:p>
          <a:p>
            <a:pPr algn="ctr"/>
            <a:r>
              <a:rPr dirty="0" err="1"/>
              <a:t>LangGraph</a:t>
            </a:r>
            <a:r>
              <a:rPr dirty="0"/>
              <a:t> + </a:t>
            </a:r>
            <a:r>
              <a:rPr dirty="0" err="1"/>
              <a:t>Gradio</a:t>
            </a:r>
            <a:r>
              <a:rPr dirty="0"/>
              <a:t> + Hugging Face</a:t>
            </a:r>
          </a:p>
        </p:txBody>
      </p:sp>
      <p:pic>
        <p:nvPicPr>
          <p:cNvPr id="4" name="Picture 3" descr="Screenshot 2026-05-20 0909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067533"/>
            <a:ext cx="9143999" cy="479046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38569" y="1393057"/>
            <a:ext cx="5866862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dirty="0"/>
              <a:t>• Healthcare claims data is large and difficult to explore</a:t>
            </a:r>
          </a:p>
          <a:p>
            <a:pPr algn="ctr"/>
            <a:r>
              <a:rPr dirty="0"/>
              <a:t>• Analysts need grounded and deterministic outputs</a:t>
            </a:r>
          </a:p>
          <a:p>
            <a:pPr algn="ctr"/>
            <a:r>
              <a:rPr dirty="0"/>
              <a:t>• LLM systems in healthcare require explainability and safety</a:t>
            </a:r>
          </a:p>
          <a:p>
            <a:pPr algn="ctr"/>
            <a:r>
              <a:rPr dirty="0"/>
              <a:t>• Goal: fast analytics without clinical advice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6813" y="2136338"/>
            <a:ext cx="769865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dirty="0"/>
              <a:t>Healthcare Data Cleaning Repo</a:t>
            </a:r>
          </a:p>
          <a:p>
            <a:pPr algn="ctr"/>
            <a:r>
              <a:rPr dirty="0"/>
              <a:t>↓</a:t>
            </a:r>
          </a:p>
          <a:p>
            <a:pPr algn="ctr"/>
            <a:r>
              <a:rPr dirty="0"/>
              <a:t>Validated Parquet Data</a:t>
            </a:r>
          </a:p>
          <a:p>
            <a:pPr algn="ctr"/>
            <a:r>
              <a:rPr dirty="0"/>
              <a:t>↓</a:t>
            </a:r>
          </a:p>
          <a:p>
            <a:pPr algn="ctr"/>
            <a:r>
              <a:rPr dirty="0"/>
              <a:t>Medical Insight Explorer Agent</a:t>
            </a:r>
          </a:p>
          <a:p>
            <a:pPr algn="ctr"/>
            <a:r>
              <a:rPr dirty="0"/>
              <a:t>↓</a:t>
            </a:r>
          </a:p>
          <a:p>
            <a:pPr algn="ctr"/>
            <a:r>
              <a:rPr dirty="0" err="1"/>
              <a:t>Gradio</a:t>
            </a:r>
            <a:r>
              <a:rPr dirty="0"/>
              <a:t> + </a:t>
            </a:r>
            <a:r>
              <a:rPr dirty="0" err="1"/>
              <a:t>LangGraph</a:t>
            </a:r>
            <a:endParaRPr dirty="0"/>
          </a:p>
          <a:p>
            <a:pPr algn="ctr"/>
            <a:r>
              <a:rPr dirty="0"/>
              <a:t>↓</a:t>
            </a:r>
          </a:p>
          <a:p>
            <a:pPr algn="ctr"/>
            <a:r>
              <a:rPr dirty="0"/>
              <a:t>Hugging Face Deployment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688258"/>
          </a:xfrm>
        </p:spPr>
        <p:txBody>
          <a:bodyPr>
            <a:noAutofit/>
          </a:bodyPr>
          <a:lstStyle/>
          <a:p>
            <a:r>
              <a:rPr dirty="0"/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" y="1028343"/>
            <a:ext cx="9144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dirty="0"/>
              <a:t>Healthcare Data Cleaning Repository</a:t>
            </a:r>
          </a:p>
          <a:p>
            <a:pPr algn="ctr"/>
            <a:r>
              <a:rPr lang="en-CA" dirty="0"/>
              <a:t>                ↓</a:t>
            </a:r>
          </a:p>
          <a:p>
            <a:pPr algn="ctr"/>
            <a:r>
              <a:rPr lang="en-CA" dirty="0"/>
              <a:t>Validated Parquet Tables</a:t>
            </a:r>
          </a:p>
          <a:p>
            <a:pPr algn="ctr"/>
            <a:r>
              <a:rPr lang="en-CA" dirty="0"/>
              <a:t>                ↓</a:t>
            </a:r>
          </a:p>
          <a:p>
            <a:pPr algn="ctr"/>
            <a:r>
              <a:rPr lang="en-CA" dirty="0" err="1"/>
              <a:t>HealthcareDataLoader</a:t>
            </a:r>
            <a:endParaRPr lang="en-CA" dirty="0"/>
          </a:p>
          <a:p>
            <a:pPr algn="ctr"/>
            <a:r>
              <a:rPr lang="en-CA" dirty="0"/>
              <a:t>                ↓</a:t>
            </a:r>
          </a:p>
          <a:p>
            <a:pPr algn="ctr"/>
            <a:r>
              <a:rPr lang="en-CA" dirty="0" err="1"/>
              <a:t>HealthcareAnalyticsEngine</a:t>
            </a:r>
            <a:endParaRPr lang="en-CA" dirty="0"/>
          </a:p>
          <a:p>
            <a:pPr algn="ctr"/>
            <a:r>
              <a:rPr lang="en-CA" dirty="0"/>
              <a:t>                ↓</a:t>
            </a:r>
          </a:p>
          <a:p>
            <a:pPr algn="ctr"/>
            <a:r>
              <a:rPr lang="en-CA" dirty="0" err="1"/>
              <a:t>VisualizationTools</a:t>
            </a:r>
            <a:endParaRPr lang="en-CA" dirty="0"/>
          </a:p>
          <a:p>
            <a:pPr algn="ctr"/>
            <a:r>
              <a:rPr lang="en-CA" dirty="0"/>
              <a:t>                ↓</a:t>
            </a:r>
          </a:p>
          <a:p>
            <a:pPr algn="ctr"/>
            <a:r>
              <a:rPr lang="en-CA" dirty="0" err="1"/>
              <a:t>ResponseGenerator</a:t>
            </a:r>
            <a:endParaRPr lang="en-CA" dirty="0"/>
          </a:p>
          <a:p>
            <a:pPr algn="ctr"/>
            <a:r>
              <a:rPr lang="en-CA" dirty="0"/>
              <a:t>                ↓</a:t>
            </a:r>
          </a:p>
          <a:p>
            <a:pPr algn="ctr"/>
            <a:r>
              <a:rPr lang="en-CA" dirty="0" err="1"/>
              <a:t>LangGraph</a:t>
            </a:r>
            <a:r>
              <a:rPr lang="en-CA" dirty="0"/>
              <a:t> Workflow</a:t>
            </a:r>
          </a:p>
          <a:p>
            <a:pPr algn="ctr"/>
            <a:r>
              <a:rPr lang="en-CA" dirty="0"/>
              <a:t>                ↓</a:t>
            </a:r>
          </a:p>
          <a:p>
            <a:pPr algn="ctr"/>
            <a:r>
              <a:rPr lang="en-CA" dirty="0"/>
              <a:t>Bilingual </a:t>
            </a:r>
            <a:r>
              <a:rPr lang="en-CA" dirty="0" err="1"/>
              <a:t>Gradio</a:t>
            </a:r>
            <a:r>
              <a:rPr lang="en-CA" dirty="0"/>
              <a:t> Interface</a:t>
            </a:r>
          </a:p>
          <a:p>
            <a:pPr algn="ctr"/>
            <a:r>
              <a:rPr lang="en-CA" dirty="0"/>
              <a:t>                ↓</a:t>
            </a:r>
          </a:p>
          <a:p>
            <a:pPr algn="ctr"/>
            <a:r>
              <a:rPr lang="en-CA" dirty="0"/>
              <a:t>Hugging Face Deployment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8035D-3433-0172-A5F1-38CE48983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0103"/>
          </a:xfrm>
        </p:spPr>
        <p:txBody>
          <a:bodyPr>
            <a:noAutofit/>
          </a:bodyPr>
          <a:lstStyle/>
          <a:p>
            <a:r>
              <a:rPr lang="en-CA" dirty="0"/>
              <a:t>Technical Design Choices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D91D2D6-58BA-93C3-1CC5-AB137A7FD0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9136612"/>
              </p:ext>
            </p:extLst>
          </p:nvPr>
        </p:nvGraphicFramePr>
        <p:xfrm>
          <a:off x="0" y="1313509"/>
          <a:ext cx="9144000" cy="4851319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185355083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3358966533"/>
                    </a:ext>
                  </a:extLst>
                </a:gridCol>
              </a:tblGrid>
              <a:tr h="3804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/>
                        <a:t>Design Decision</a:t>
                      </a:r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/>
                        <a:t>Why it was implemented</a:t>
                      </a:r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8546426"/>
                  </a:ext>
                </a:extLst>
              </a:tr>
              <a:tr h="9512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 b="1" dirty="0"/>
                        <a:t>Compute First → Explain Second</a:t>
                      </a:r>
                      <a:endParaRPr lang="en-CA" sz="1700" dirty="0"/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/>
                        <a:t>Deterministic pandas analytics run before AI explanations to prevent fabricated healthcare statistics</a:t>
                      </a:r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4163594"/>
                  </a:ext>
                </a:extLst>
              </a:tr>
              <a:tr h="9512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 b="1" dirty="0"/>
                        <a:t>Controlled Analytics Routing</a:t>
                      </a:r>
                      <a:endParaRPr lang="en-CA" sz="1700" dirty="0"/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/>
                        <a:t>User questions are routed only to predefined functions; the LLM never receives direct DataFrame access</a:t>
                      </a:r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9989785"/>
                  </a:ext>
                </a:extLst>
              </a:tr>
              <a:tr h="9512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 b="1"/>
                        <a:t>Sample Data Deployment Strategy</a:t>
                      </a:r>
                      <a:endParaRPr lang="en-CA" sz="1700"/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/>
                        <a:t>Lightweight sample datasets were used to satisfy Hugging Face memory and runtime constraints</a:t>
                      </a:r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7029532"/>
                  </a:ext>
                </a:extLst>
              </a:tr>
              <a:tr h="665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 b="1"/>
                        <a:t>Localized Bilingual UX</a:t>
                      </a:r>
                      <a:endParaRPr lang="en-CA" sz="1700"/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/>
                        <a:t>English and German interaction improves accessibility and recruiter usability</a:t>
                      </a:r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577214"/>
                  </a:ext>
                </a:extLst>
              </a:tr>
              <a:tr h="9512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 b="1"/>
                        <a:t>Conditional Visualization Routing</a:t>
                      </a:r>
                      <a:endParaRPr lang="en-CA" sz="1700"/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700" dirty="0"/>
                        <a:t>Plotly charts are generated only for supported analytical routes to avoid misleading outputs</a:t>
                      </a:r>
                    </a:p>
                  </a:txBody>
                  <a:tcPr marL="88744" marR="88744" marT="44372" marB="443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3820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5DFB40C-0817-ACC0-5083-E60396D8B967}"/>
              </a:ext>
            </a:extLst>
          </p:cNvPr>
          <p:cNvSpPr txBox="1"/>
          <p:nvPr/>
        </p:nvSpPr>
        <p:spPr>
          <a:xfrm>
            <a:off x="0" y="787950"/>
            <a:ext cx="91439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b="1" dirty="0"/>
              <a:t>Engineering decisions used to improve reliability, safety, and deployment stability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EC2F86-13F6-3AB4-30D3-3D6BEFDAE49E}"/>
              </a:ext>
            </a:extLst>
          </p:cNvPr>
          <p:cNvSpPr txBox="1"/>
          <p:nvPr/>
        </p:nvSpPr>
        <p:spPr>
          <a:xfrm>
            <a:off x="0" y="6295694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b="1" dirty="0"/>
              <a:t>Design principle:</a:t>
            </a:r>
            <a:r>
              <a:rPr lang="en-CA" dirty="0"/>
              <a:t> Safe computation → controlled reasoning → explainable output</a:t>
            </a:r>
          </a:p>
        </p:txBody>
      </p:sp>
    </p:spTree>
    <p:extLst>
      <p:ext uri="{BB962C8B-B14F-4D97-AF65-F5344CB8AC3E}">
        <p14:creationId xmlns:p14="http://schemas.microsoft.com/office/powerpoint/2010/main" val="1361721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radio_app_top_inpatient_provi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4245" y="639097"/>
            <a:ext cx="9232490" cy="62189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4201564-E722-9FCF-DA2D-BE89A64FA0C0}"/>
              </a:ext>
            </a:extLst>
          </p:cNvPr>
          <p:cNvSpPr txBox="1"/>
          <p:nvPr/>
        </p:nvSpPr>
        <p:spPr>
          <a:xfrm>
            <a:off x="0" y="-15767"/>
            <a:ext cx="91882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ct val="0"/>
              </a:spcBef>
            </a:pPr>
            <a:r>
              <a:rPr lang="en-CA" sz="4400" dirty="0">
                <a:latin typeface="+mj-lt"/>
                <a:ea typeface="+mj-ea"/>
                <a:cs typeface="+mj-cs"/>
              </a:rPr>
              <a:t>Medical Insight Explorer Agent</a:t>
            </a:r>
          </a:p>
        </p:txBody>
      </p:sp>
    </p:spTree>
    <p:extLst>
      <p:ext uri="{BB962C8B-B14F-4D97-AF65-F5344CB8AC3E}">
        <p14:creationId xmlns:p14="http://schemas.microsoft.com/office/powerpoint/2010/main" val="29119966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512142"/>
            <a:ext cx="914399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dirty="0"/>
              <a:t>✓ English/German UX</a:t>
            </a:r>
          </a:p>
          <a:p>
            <a:pPr algn="ctr"/>
            <a:r>
              <a:rPr dirty="0"/>
              <a:t>✓ Plotly charts</a:t>
            </a:r>
          </a:p>
          <a:p>
            <a:pPr algn="ctr"/>
            <a:r>
              <a:rPr dirty="0"/>
              <a:t>✓ Deterministic analytics</a:t>
            </a:r>
          </a:p>
          <a:p>
            <a:pPr algn="ctr"/>
            <a:r>
              <a:rPr dirty="0"/>
              <a:t>✓ </a:t>
            </a:r>
            <a:r>
              <a:rPr dirty="0" err="1"/>
              <a:t>LangGraph</a:t>
            </a:r>
            <a:r>
              <a:rPr dirty="0"/>
              <a:t> orchestration</a:t>
            </a:r>
          </a:p>
          <a:p>
            <a:pPr algn="ctr"/>
            <a:r>
              <a:rPr lang="en-CA" dirty="0"/>
              <a:t>✓ Safe compute-first architecture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747252"/>
          </a:xfrm>
        </p:spPr>
        <p:txBody>
          <a:bodyPr>
            <a:noAutofit/>
          </a:bodyPr>
          <a:lstStyle/>
          <a:p>
            <a:r>
              <a:rPr dirty="0"/>
              <a:t>English Demo</a:t>
            </a:r>
          </a:p>
        </p:txBody>
      </p:sp>
      <p:pic>
        <p:nvPicPr>
          <p:cNvPr id="4" name="Picture 3" descr="inpatient_reimbursemen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45575"/>
            <a:ext cx="9144000" cy="60124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German Demo</a:t>
            </a:r>
          </a:p>
        </p:txBody>
      </p:sp>
      <p:pic>
        <p:nvPicPr>
          <p:cNvPr id="3" name="Picture 2" descr="Screenshot 2026-05-20 0912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7638"/>
            <a:ext cx="9144000" cy="544036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11277"/>
          </a:xfrm>
        </p:spPr>
        <p:txBody>
          <a:bodyPr>
            <a:noAutofit/>
          </a:bodyPr>
          <a:lstStyle/>
          <a:p>
            <a:r>
              <a:rPr dirty="0"/>
              <a:t>Analytics Outputs</a:t>
            </a:r>
          </a:p>
        </p:txBody>
      </p:sp>
      <p:pic>
        <p:nvPicPr>
          <p:cNvPr id="3" name="Picture 2" descr="top_10_inpatient_providers_by_claim_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1277"/>
            <a:ext cx="9144000" cy="2802194"/>
          </a:xfrm>
          <a:prstGeom prst="rect">
            <a:avLst/>
          </a:prstGeom>
        </p:spPr>
      </p:pic>
      <p:pic>
        <p:nvPicPr>
          <p:cNvPr id="4" name="Picture 3" descr="average_inpatient_reimbursement_by_diabetes_indic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9144000" cy="31905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7547B5-E0FD-4AA7-06C7-457CDB333BC2}"/>
              </a:ext>
            </a:extLst>
          </p:cNvPr>
          <p:cNvSpPr txBox="1"/>
          <p:nvPr/>
        </p:nvSpPr>
        <p:spPr>
          <a:xfrm>
            <a:off x="2" y="6550223"/>
            <a:ext cx="91439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b="1" dirty="0"/>
              <a:t>Insight:</a:t>
            </a:r>
            <a:r>
              <a:rPr lang="en-CA" sz="1400" dirty="0"/>
              <a:t> Reimbursements are right-skewed with a concentration around lower claim amounts.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95F691-1247-B2DE-2192-91719544991C}"/>
              </a:ext>
            </a:extLst>
          </p:cNvPr>
          <p:cNvSpPr txBox="1"/>
          <p:nvPr/>
        </p:nvSpPr>
        <p:spPr>
          <a:xfrm>
            <a:off x="-619433" y="3217347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400" b="1" dirty="0"/>
              <a:t>Insight:</a:t>
            </a:r>
            <a:r>
              <a:rPr lang="en-CA" sz="1400" dirty="0"/>
              <a:t> Provider activity is concentrated among a small subset of institutions.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Safety &amp; Responsible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5486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✓ Claims analytics only</a:t>
            </a:r>
          </a:p>
          <a:p>
            <a:r>
              <a:t>✓ No diagnosis</a:t>
            </a:r>
          </a:p>
          <a:p>
            <a:r>
              <a:t>✓ No treatment recommendations</a:t>
            </a:r>
          </a:p>
          <a:p>
            <a:r>
              <a:t>✓ Explainable deterministic calculations</a:t>
            </a:r>
          </a:p>
          <a:p>
            <a:r>
              <a:t>✓ Safer healthcare AI interaction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&amp;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225689"/>
            <a:ext cx="91440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b="1" dirty="0"/>
              <a:t>Key Takeaways</a:t>
            </a:r>
            <a:endParaRPr lang="en-CA" dirty="0"/>
          </a:p>
          <a:p>
            <a:pPr algn="ctr"/>
            <a:r>
              <a:rPr lang="en-CA" dirty="0"/>
              <a:t>✓ Safe healthcare analytics</a:t>
            </a:r>
            <a:br>
              <a:rPr lang="en-CA" dirty="0"/>
            </a:br>
            <a:r>
              <a:rPr lang="en-CA" dirty="0"/>
              <a:t>✓ Explainable AI workflow</a:t>
            </a:r>
            <a:br>
              <a:rPr lang="en-CA" dirty="0"/>
            </a:br>
            <a:r>
              <a:rPr lang="en-CA" dirty="0"/>
              <a:t>✓ Production deployment</a:t>
            </a:r>
            <a:br>
              <a:rPr lang="en-CA" dirty="0"/>
            </a:br>
            <a:r>
              <a:rPr lang="en-CA" dirty="0"/>
              <a:t>✓ Bilingual recruiter-ready UX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dirty="0"/>
              <a:t>Hugging Face:</a:t>
            </a:r>
          </a:p>
          <a:p>
            <a:r>
              <a:rPr dirty="0">
                <a:hlinkClick r:id="rId2"/>
              </a:rPr>
              <a:t>https://huggingface.co/spaces/Artur-Melnyk/Medical-Insight-Explorer-Agent</a:t>
            </a:r>
            <a:endParaRPr lang="en-US" dirty="0"/>
          </a:p>
          <a:p>
            <a:endParaRPr dirty="0"/>
          </a:p>
          <a:p>
            <a:r>
              <a:rPr dirty="0"/>
              <a:t>GitHub:</a:t>
            </a:r>
          </a:p>
          <a:p>
            <a:r>
              <a:rPr dirty="0">
                <a:hlinkClick r:id="rId3"/>
              </a:rPr>
              <a:t>https://github.com/ArturMelnyk-analyst/Medical-Insight-Explorer-Agent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algn="ctr"/>
            <a:r>
              <a:rPr lang="en-CA" dirty="0"/>
              <a:t>Built using: Python • Pandas • Plotly • </a:t>
            </a:r>
            <a:r>
              <a:rPr lang="en-CA" dirty="0" err="1"/>
              <a:t>Gradio</a:t>
            </a:r>
            <a:r>
              <a:rPr lang="en-CA" dirty="0"/>
              <a:t> • </a:t>
            </a:r>
            <a:r>
              <a:rPr lang="en-CA" dirty="0" err="1"/>
              <a:t>LangGraph</a:t>
            </a:r>
            <a:r>
              <a:rPr lang="en-CA" dirty="0"/>
              <a:t> • Hugging Face</a:t>
            </a:r>
            <a:endParaRPr lang="en-US" dirty="0"/>
          </a:p>
          <a:p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1275</TotalTime>
  <Words>383</Words>
  <Application>Microsoft Office PowerPoint</Application>
  <PresentationFormat>On-screen Show (4:3)</PresentationFormat>
  <Paragraphs>88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Medical Insight Explorer Agent</vt:lpstr>
      <vt:lpstr>Business Problem</vt:lpstr>
      <vt:lpstr>Project Ecosystem</vt:lpstr>
      <vt:lpstr>Architecture</vt:lpstr>
      <vt:lpstr>Technical Design Choices</vt:lpstr>
      <vt:lpstr>PowerPoint Presentation</vt:lpstr>
      <vt:lpstr>Key Features</vt:lpstr>
      <vt:lpstr>English Demo</vt:lpstr>
      <vt:lpstr>German Demo</vt:lpstr>
      <vt:lpstr>Analytics Outputs</vt:lpstr>
      <vt:lpstr>Safety &amp; Responsible AI</vt:lpstr>
      <vt:lpstr>Live Demo &amp; Portfolio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Artur Melnyk</dc:creator>
  <cp:keywords/>
  <dc:description>generated using python-pptx</dc:description>
  <cp:lastModifiedBy>Artur Melnyk</cp:lastModifiedBy>
  <cp:revision>6</cp:revision>
  <dcterms:created xsi:type="dcterms:W3CDTF">2013-01-27T09:14:16Z</dcterms:created>
  <dcterms:modified xsi:type="dcterms:W3CDTF">2026-05-21T11:44:18Z</dcterms:modified>
  <cp:category/>
</cp:coreProperties>
</file>