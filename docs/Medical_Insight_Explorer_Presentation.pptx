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turMelnyk-analyst/Medical-Insight-Explorer-Agent" TargetMode="External"/><Relationship Id="rId2" Type="http://schemas.openxmlformats.org/officeDocument/2006/relationships/hyperlink" Target="https://huggingface.co/spaces/Artur-Melnyk/Medical-Insight-Explorer-Agen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1039" y="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D53"/>
                </a:solidFill>
              </a:defRPr>
            </a:pPr>
            <a:r>
              <a:rPr dirty="0"/>
              <a:t>Medical Insight Explorer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79" y="458506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85BAA"/>
                </a:solidFill>
              </a:defRPr>
            </a:pPr>
            <a:r>
              <a:rPr dirty="0"/>
              <a:t>Controlled, deterministic, bilingual healthcare claims analytics</a:t>
            </a:r>
          </a:p>
          <a:p>
            <a:pPr>
              <a:spcBef>
                <a:spcPts val="800"/>
              </a:spcBef>
              <a:defRPr sz="1400">
                <a:solidFill>
                  <a:srgbClr val="536070"/>
                </a:solidFill>
              </a:defRPr>
            </a:pPr>
            <a:r>
              <a:rPr dirty="0"/>
              <a:t>Artur Melnyk  |  Applied Data Scientist</a:t>
            </a:r>
          </a:p>
        </p:txBody>
      </p:sp>
      <p:pic>
        <p:nvPicPr>
          <p:cNvPr id="5" name="Picture 4" descr="gradio_app_eng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1" y="1190026"/>
            <a:ext cx="7815943" cy="56679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00011" y="30480"/>
            <a:ext cx="2331720" cy="411480"/>
          </a:xfrm>
          <a:prstGeom prst="roundRect">
            <a:avLst/>
          </a:prstGeom>
          <a:solidFill>
            <a:srgbClr val="F4F7FB"/>
          </a:solidFill>
          <a:ln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38111" y="12192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5BAA"/>
                </a:solidFill>
              </a:defRPr>
            </a:pPr>
            <a:r>
              <a:rPr dirty="0"/>
              <a:t>v1.2.0 • </a:t>
            </a:r>
            <a:r>
              <a:rPr dirty="0" err="1"/>
              <a:t>LangGraph</a:t>
            </a:r>
            <a:r>
              <a:rPr dirty="0"/>
              <a:t> • </a:t>
            </a:r>
            <a:r>
              <a:rPr dirty="0" err="1"/>
              <a:t>Gradio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Business Problem → Design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Why the system is deliberately bounded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74720" cy="43434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B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45336"/>
            <a:ext cx="31455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24141"/>
                </a:solidFill>
              </a:defRPr>
            </a:pPr>
            <a:r>
              <a:t>The problem</a:t>
            </a:r>
          </a:p>
          <a:p>
            <a:pPr>
              <a:spcBef>
                <a:spcPts val="500"/>
              </a:spcBef>
              <a:defRPr sz="1500">
                <a:solidFill>
                  <a:srgbClr val="1C222B"/>
                </a:solidFill>
              </a:defRPr>
            </a:pPr>
            <a:r>
              <a:t>Healthcare claims data is large, relational, and difficult to explore. Natural-language analytics can improve accessibility, but unrestricted AI-generated analysis risks invented calculations and unsupported healthcare conclusions.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43434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545336"/>
            <a:ext cx="31455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5BAA"/>
                </a:solidFill>
              </a:defRPr>
            </a:pPr>
            <a:r>
              <a:t>The design response</a:t>
            </a:r>
          </a:p>
          <a:p>
            <a:pPr>
              <a:spcBef>
                <a:spcPts val="500"/>
              </a:spcBef>
              <a:defRPr sz="1500">
                <a:solidFill>
                  <a:srgbClr val="1C222B"/>
                </a:solidFill>
              </a:defRPr>
            </a:pPr>
            <a:r>
              <a:t>Separate natural-language interaction from numerical authority. Questions may select approved analytical capabilities, while predefined pandas functions calculate the actual healthcare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417320"/>
            <a:ext cx="3474720" cy="43434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39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0456" y="1545336"/>
            <a:ext cx="31455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9844E"/>
                </a:solidFill>
              </a:defRPr>
            </a:pPr>
            <a:r>
              <a:t>The outcome</a:t>
            </a:r>
          </a:p>
          <a:p>
            <a:pPr>
              <a:spcBef>
                <a:spcPts val="500"/>
              </a:spcBef>
              <a:defRPr sz="1500">
                <a:solidFill>
                  <a:srgbClr val="1C222B"/>
                </a:solidFill>
              </a:defRPr>
            </a:pPr>
            <a:r>
              <a:t>A portfolio-grade analytics agent that is reproducible, bilingual, explainable, and intentionally limited to descriptive healthcare claims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8978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D53"/>
                </a:solidFill>
              </a:defRPr>
            </a:pPr>
            <a:r>
              <a:t>“Natural language may choose approved analytics. It should not invent the analytics themselves.”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Upstream cleaning and deterministic analytics remain separate from conversational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pic>
        <p:nvPicPr>
          <p:cNvPr id="7" name="Picture 6" descr="data_pipeline_architectur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40" y="1234440"/>
            <a:ext cx="9184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Agent Workflow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The control plane selects, constrains, executes, synthesizes, and presents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pic>
        <p:nvPicPr>
          <p:cNvPr id="7" name="Picture 6" descr="agent_workflow_architecture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234440"/>
            <a:ext cx="7456715" cy="5202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What Changed in v1.2.0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From controlled single-step routing to bounded multi-step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83280" cy="448056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E6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53895"/>
            <a:ext cx="305409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9116"/>
                </a:solidFill>
              </a:defRPr>
            </a:pPr>
            <a:r>
              <a:t>1. Planner</a:t>
            </a:r>
          </a:p>
          <a:p>
            <a:pPr>
              <a:spcBef>
                <a:spcPts val="500"/>
              </a:spcBef>
              <a:defRPr sz="1500">
                <a:solidFill>
                  <a:srgbClr val="1C222B"/>
                </a:solidFill>
              </a:defRPr>
            </a:pPr>
            <a:r>
              <a:t>Creates one-tool plans for simple questions and multi-tool plans only for explicitly supported compound questions.</a:t>
            </a:r>
            <a:br/>
            <a:br/>
            <a:r>
              <a:t>Maximum: 3 analytics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448056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53895"/>
            <a:ext cx="305409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5BAA"/>
                </a:solidFill>
              </a:defRPr>
            </a:pPr>
            <a:r>
              <a:t>2. Tool Registry</a:t>
            </a:r>
          </a:p>
          <a:p>
            <a:pPr>
              <a:spcBef>
                <a:spcPts val="500"/>
              </a:spcBef>
              <a:defRPr sz="1500">
                <a:solidFill>
                  <a:srgbClr val="1C222B"/>
                </a:solidFill>
              </a:defRPr>
            </a:pPr>
            <a:r>
              <a:t>Ten allowlisted symbolic capabilities form the controller-facing execution boundary.</a:t>
            </a:r>
            <a:br/>
            <a:br/>
            <a:r>
              <a:t>Unknown or unregistered tools are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448056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66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453895"/>
            <a:ext cx="305409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4B9B"/>
                </a:solidFill>
              </a:defRPr>
            </a:pPr>
            <a:r>
              <a:t>3. LangGraph</a:t>
            </a:r>
          </a:p>
          <a:p>
            <a:pPr>
              <a:spcBef>
                <a:spcPts val="500"/>
              </a:spcBef>
              <a:defRPr sz="1500">
                <a:solidFill>
                  <a:srgbClr val="1C222B"/>
                </a:solidFill>
              </a:defRPr>
            </a:pPr>
            <a:r>
              <a:t>Coordinates sequential execution, stores all deterministic results, synthesizes the response, and preserves one primary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8932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D53"/>
                </a:solidFill>
              </a:defRPr>
            </a:pPr>
            <a:r>
              <a:t>Planner selects  →  Registry constrains  →  Analytics engine computes  →  LangGraph coordinates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Approved Analytics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10 deterministic capabilities; no arbitrary Python, SQL, pandas, or dataframe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2057400" cy="18288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45336"/>
            <a:ext cx="1728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5BAA"/>
                </a:solidFill>
              </a:defRPr>
            </a:pPr>
            <a:r>
              <a:t>Dataset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table_shapes</a:t>
            </a:r>
            <a:br/>
            <a:r>
              <a:t>age_summary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417320"/>
            <a:ext cx="2057400" cy="18288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178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545336"/>
            <a:ext cx="1728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8596"/>
                </a:solidFill>
              </a:defRPr>
            </a:pPr>
            <a:r>
              <a:t>Claims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inpatient_summary</a:t>
            </a:r>
            <a:br/>
            <a:r>
              <a:t>outpatient_summary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417320"/>
            <a:ext cx="2057400" cy="18288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39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59" y="1545336"/>
            <a:ext cx="1728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9844E"/>
                </a:solidFill>
              </a:defRPr>
            </a:pPr>
            <a:r>
              <a:t>Providers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top_inpatient_providers</a:t>
            </a:r>
            <a:br/>
            <a:r>
              <a:t>top_outpatient_providers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16368" y="1417320"/>
            <a:ext cx="2057400" cy="18288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66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545336"/>
            <a:ext cx="1728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4B9B"/>
                </a:solidFill>
              </a:defRPr>
            </a:pPr>
            <a:r>
              <a:t>Geography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inpatient_claims_by_state</a:t>
            </a:r>
            <a:br/>
            <a:r>
              <a:t>outpatient_claims_by_state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417320"/>
            <a:ext cx="2057400" cy="18288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E6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1545336"/>
            <a:ext cx="1728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9116"/>
                </a:solidFill>
              </a:defRPr>
            </a:pPr>
            <a:r>
              <a:t>Reimbursement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diabetes_cost_summary</a:t>
            </a:r>
            <a:br/>
            <a:r>
              <a:t>reimbursement_distribution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3429000" cy="164592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831335"/>
            <a:ext cx="30998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5BAA"/>
                </a:solidFill>
              </a:defRPr>
            </a:pPr>
            <a:r>
              <a:t>Supported compound workflow</a:t>
            </a:r>
          </a:p>
          <a:p>
            <a:pPr>
              <a:spcBef>
                <a:spcPts val="500"/>
              </a:spcBef>
              <a:defRPr sz="1300">
                <a:solidFill>
                  <a:srgbClr val="1C222B"/>
                </a:solidFill>
              </a:defRPr>
            </a:pPr>
            <a:r>
              <a:t>Compare inpatient and outpatient provider activity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03320"/>
            <a:ext cx="3429000" cy="164592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178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3831335"/>
            <a:ext cx="30998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8596"/>
                </a:solidFill>
              </a:defRPr>
            </a:pPr>
            <a:r>
              <a:t>Supported compound workflow</a:t>
            </a:r>
          </a:p>
          <a:p>
            <a:pPr>
              <a:spcBef>
                <a:spcPts val="500"/>
              </a:spcBef>
              <a:defRPr sz="1300">
                <a:solidFill>
                  <a:srgbClr val="1C222B"/>
                </a:solidFill>
              </a:defRPr>
            </a:pPr>
            <a:r>
              <a:t>Compare inpatient and outpatient claims by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703320"/>
            <a:ext cx="3429000" cy="164592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66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3831335"/>
            <a:ext cx="30998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4B9B"/>
                </a:solidFill>
              </a:defRPr>
            </a:pPr>
            <a:r>
              <a:t>Supported compound workflow</a:t>
            </a:r>
          </a:p>
          <a:p>
            <a:pPr>
              <a:spcBef>
                <a:spcPts val="500"/>
              </a:spcBef>
              <a:defRPr sz="1300">
                <a:solidFill>
                  <a:srgbClr val="1C222B"/>
                </a:solidFill>
              </a:defRPr>
            </a:pPr>
            <a:r>
              <a:t>Compare inpatient and outpatient claim summaries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6928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D53"/>
                </a:solidFill>
              </a:defRPr>
            </a:pPr>
            <a:r>
              <a:t>0 tools = unsupported/rejected   •   1 tool = single-step   •   2–3 tools = bounded multi-step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Bilingual, Persona-Guided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Language and stakeholder context improve exploration without changing analytics permissions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pic>
        <p:nvPicPr>
          <p:cNvPr id="7" name="Picture 6" descr="gradio_app_eng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440"/>
            <a:ext cx="6010657" cy="4160520"/>
          </a:xfrm>
          <a:prstGeom prst="rect">
            <a:avLst/>
          </a:prstGeom>
        </p:spPr>
      </p:pic>
      <p:pic>
        <p:nvPicPr>
          <p:cNvPr id="8" name="Picture 7" descr="gradio_app_ger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5" y="1234440"/>
            <a:ext cx="6038086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5532120"/>
            <a:ext cx="3337560" cy="7772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5660136"/>
            <a:ext cx="3008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5BAA"/>
                </a:solidFill>
              </a:defRPr>
            </a:pPr>
            <a:r>
              <a:t>English + German</a:t>
            </a:r>
          </a:p>
          <a:p>
            <a:pPr>
              <a:spcBef>
                <a:spcPts val="500"/>
              </a:spcBef>
              <a:defRPr sz="1000">
                <a:solidFill>
                  <a:srgbClr val="1C222B"/>
                </a:solidFill>
              </a:defRPr>
            </a:pPr>
            <a:r>
              <a:t>Same deterministic analytical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5532120"/>
            <a:ext cx="3337560" cy="7772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39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5660136"/>
            <a:ext cx="3008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9844E"/>
                </a:solidFill>
              </a:defRPr>
            </a:pPr>
            <a:r>
              <a:t>3 stakeholder personas</a:t>
            </a:r>
          </a:p>
          <a:p>
            <a:pPr>
              <a:spcBef>
                <a:spcPts val="500"/>
              </a:spcBef>
              <a:defRPr sz="1000">
                <a:solidFill>
                  <a:srgbClr val="1C222B"/>
                </a:solidFill>
              </a:defRPr>
            </a:pPr>
            <a:r>
              <a:t>Operations • Fraud investigation •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532120"/>
            <a:ext cx="3337560" cy="7772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E6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5660136"/>
            <a:ext cx="30083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9116"/>
                </a:solidFill>
              </a:defRPr>
            </a:pPr>
            <a:r>
              <a:t>Persona boundary</a:t>
            </a:r>
          </a:p>
          <a:p>
            <a:pPr>
              <a:spcBef>
                <a:spcPts val="500"/>
              </a:spcBef>
              <a:defRPr sz="1000">
                <a:solidFill>
                  <a:srgbClr val="1C222B"/>
                </a:solidFill>
              </a:defRPr>
            </a:pPr>
            <a:r>
              <a:t>Guidance only — no formula or permission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Multi-Step Analytics in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One question → two approved tools → combined text results → one primary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pic>
        <p:nvPicPr>
          <p:cNvPr id="7" name="Picture 6" descr="gradio_app_eng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143000"/>
            <a:ext cx="7036525" cy="53858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371600"/>
            <a:ext cx="3383280" cy="109728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499616"/>
            <a:ext cx="30540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5BAA"/>
                </a:solidFill>
              </a:defRPr>
            </a:pPr>
            <a:r>
              <a:t>Visible workflow status</a:t>
            </a:r>
          </a:p>
          <a:p>
            <a:pPr>
              <a:spcBef>
                <a:spcPts val="500"/>
              </a:spcBef>
              <a:defRPr sz="1200">
                <a:solidFill>
                  <a:srgbClr val="1C222B"/>
                </a:solidFill>
              </a:defRPr>
            </a:pPr>
            <a:r>
              <a:t>Multi-step · 2 approved tools executed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697480"/>
            <a:ext cx="3383280" cy="12344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178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2825496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8596"/>
                </a:solidFill>
              </a:defRPr>
            </a:pPr>
            <a:r>
              <a:t>Multi-result response</a:t>
            </a:r>
          </a:p>
          <a:p>
            <a:pPr>
              <a:spcBef>
                <a:spcPts val="500"/>
              </a:spcBef>
              <a:defRPr sz="1200">
                <a:solidFill>
                  <a:srgbClr val="1C222B"/>
                </a:solidFill>
              </a:defRPr>
            </a:pPr>
            <a:r>
              <a:t>Both inpatient and outpatient provider results are retained in the textual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60520"/>
            <a:ext cx="3383280" cy="12344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66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4288536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4B9B"/>
                </a:solidFill>
              </a:defRPr>
            </a:pPr>
            <a:r>
              <a:t>Primary-chart compatibility</a:t>
            </a:r>
          </a:p>
          <a:p>
            <a:pPr>
              <a:spcBef>
                <a:spcPts val="500"/>
              </a:spcBef>
              <a:defRPr sz="1200">
                <a:solidFill>
                  <a:srgbClr val="1C222B"/>
                </a:solidFill>
              </a:defRPr>
            </a:pPr>
            <a:r>
              <a:t>The current release intentionally renders one primary chart rather than a multi-chart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Representative Analytics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Deterministic results are calculated first; interpretation is added afterward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pic>
        <p:nvPicPr>
          <p:cNvPr id="7" name="Picture 6" descr="top_10_inpatient_providers_by_claim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98565"/>
            <a:ext cx="5440680" cy="2552108"/>
          </a:xfrm>
          <a:prstGeom prst="rect">
            <a:avLst/>
          </a:prstGeom>
        </p:spPr>
      </p:pic>
      <p:pic>
        <p:nvPicPr>
          <p:cNvPr id="8" name="Picture 7" descr="inpatient_reimbursem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98565"/>
            <a:ext cx="5440680" cy="25521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343400"/>
            <a:ext cx="5321808" cy="141732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471416"/>
            <a:ext cx="49926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5BAA"/>
                </a:solidFill>
              </a:defRPr>
            </a:pPr>
            <a:r>
              <a:t>Provider activity</a:t>
            </a:r>
          </a:p>
          <a:p>
            <a:pPr>
              <a:spcBef>
                <a:spcPts val="500"/>
              </a:spcBef>
              <a:defRPr sz="1200">
                <a:solidFill>
                  <a:srgbClr val="1C222B"/>
                </a:solidFill>
              </a:defRPr>
            </a:pPr>
            <a:r>
              <a:t>Provider claim volume is concentrated among a smaller subset of providers, supporting descriptive utilization monitoring and operational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43400"/>
            <a:ext cx="5321808" cy="141732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E6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471416"/>
            <a:ext cx="49926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9116"/>
                </a:solidFill>
              </a:defRPr>
            </a:pPr>
            <a:r>
              <a:t>Reimbursement distribution</a:t>
            </a:r>
          </a:p>
          <a:p>
            <a:pPr>
              <a:spcBef>
                <a:spcPts val="500"/>
              </a:spcBef>
              <a:defRPr sz="1200">
                <a:solidFill>
                  <a:srgbClr val="1C222B"/>
                </a:solidFill>
              </a:defRPr>
            </a:pPr>
            <a:r>
              <a:t>The distribution is strongly right-skewed: most claims fall in lower-to-mid reimbursement ranges, with a smaller high-cost 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Safety &amp; Responsible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The constraints are architectural, not just wording in the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452628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39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53895"/>
            <a:ext cx="48828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9844E"/>
                </a:solidFill>
              </a:defRPr>
            </a:pPr>
            <a:r>
              <a:t>What the system enforces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✓ Predefined deterministic pandas calculations</a:t>
            </a:r>
            <a:br/>
            <a:r>
              <a:t>✓ Allowlisted controller-facing tool registry</a:t>
            </a:r>
            <a:br/>
            <a:r>
              <a:t>✓ Bounded planning: MAX_ANALYTICS_STEPS = 3</a:t>
            </a:r>
            <a:br/>
            <a:r>
              <a:t>✓ Unsupported and causal requests can execute zero tools</a:t>
            </a:r>
            <a:br/>
            <a:r>
              <a:t>✓ Personas guide exploration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B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1453895"/>
            <a:ext cx="48828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24141"/>
                </a:solidFill>
              </a:defRPr>
            </a:pPr>
            <a:r>
              <a:t>What the system does not do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× No diagnosis or treatment recommendations</a:t>
            </a:r>
            <a:br/>
            <a:r>
              <a:t>× No patient-specific clinical advice</a:t>
            </a:r>
            <a:br/>
            <a:r>
              <a:t>× No fraud determination</a:t>
            </a:r>
            <a:br/>
            <a:r>
              <a:t>× No causal medical conclusions</a:t>
            </a:r>
            <a:br/>
            <a:r>
              <a:t>× No arbitrary Python / SQL / pandas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98932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D53"/>
                </a:solidFill>
              </a:defRPr>
            </a:pPr>
            <a:r>
              <a:t>Descriptive healthcare claims analytics ≠ clinical or causal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3"/>
                </a:solidFill>
              </a:defRPr>
            </a:pPr>
            <a:r>
              <a:t>Engineering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36070"/>
                </a:solidFill>
              </a:defRPr>
            </a:pPr>
            <a:r>
              <a:t>Same core architecture; different runtime data footprints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36070"/>
                </a:solidFill>
              </a:defRPr>
            </a:pPr>
            <a:r>
              <a:t>Medical Insight Explorer Agent • v1.2.0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19202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53895"/>
            <a:ext cx="30083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5BAA"/>
                </a:solidFill>
              </a:defRPr>
            </a:pPr>
            <a:r>
              <a:t>Local runtime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Full cleaned Parquet data when available</a:t>
            </a:r>
            <a:br/>
            <a:br/>
            <a:r>
              <a:t>`data/processed/`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9202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E6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453895"/>
            <a:ext cx="30083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9116"/>
                </a:solidFill>
              </a:defRPr>
            </a:pPr>
            <a:r>
              <a:t>Hugging Face Space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Lightweight public sample data</a:t>
            </a:r>
            <a:br/>
            <a:br/>
            <a:r>
              <a:t>`data/sample/`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337560" cy="192024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39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1" y="1453895"/>
            <a:ext cx="30083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9844E"/>
                </a:solidFill>
              </a:defRPr>
            </a:pPr>
            <a:r>
              <a:t>Shared application core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Same planner, registry, analytics engine, LangGraph workflow, response and chart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3337560" cy="150876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664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831335"/>
            <a:ext cx="3008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4B9B"/>
                </a:solidFill>
              </a:defRPr>
            </a:pPr>
            <a:r>
              <a:t>Clear module boundaries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Data loading • deterministic analytics • bounded planning • approved execution • orchestration • 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703320"/>
            <a:ext cx="3337560" cy="150876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178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3831335"/>
            <a:ext cx="3008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8596"/>
                </a:solidFill>
              </a:defRPr>
            </a:pPr>
            <a:r>
              <a:t>Validation focus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English/German • single/multi-step • fallback • causal rejection • chart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703320"/>
            <a:ext cx="3337560" cy="150876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48471" y="3831335"/>
            <a:ext cx="30083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5BAA"/>
                </a:solidFill>
              </a:defRPr>
            </a:pPr>
            <a:r>
              <a:t>Portfolio positioning</a:t>
            </a:r>
          </a:p>
          <a:p>
            <a:pPr>
              <a:spcBef>
                <a:spcPts val="500"/>
              </a:spcBef>
              <a:defRPr sz="1100">
                <a:solidFill>
                  <a:srgbClr val="1C222B"/>
                </a:solidFill>
              </a:defRPr>
            </a:pPr>
            <a:r>
              <a:t>A controlled applied-DS system demonstrating analytics engineering, orchestration, UX, safety, and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69280"/>
            <a:ext cx="9235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D53"/>
                </a:solidFill>
              </a:defRPr>
            </a:pPr>
            <a:r>
              <a:t>Python • pandas • Plotly • Gradio • LangGraph • Hugging 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122D53"/>
                </a:solidFill>
              </a:defRPr>
            </a:pPr>
            <a:r>
              <a:t>Medical Insight Explorer Agent — v1.2.0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85BAA"/>
                </a:solidFill>
              </a:defRPr>
            </a:pPr>
            <a:r>
              <a:t>Controlled multi-step analytics without unrestricted numerical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3063240" cy="20574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28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642616"/>
            <a:ext cx="2734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5BAA"/>
                </a:solidFill>
              </a:defRPr>
            </a:pPr>
            <a:r>
              <a:t>Deterministic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Predefined pandas analytics remain the source of numerical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514600"/>
            <a:ext cx="3063240" cy="20574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E69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2642616"/>
            <a:ext cx="2734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9116"/>
                </a:solidFill>
              </a:defRPr>
            </a:pPr>
            <a:r>
              <a:t>Controlled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Planner + allowlisted registry constrain what natural language can execute.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514600"/>
            <a:ext cx="3063240" cy="2057400"/>
          </a:xfrm>
          <a:prstGeom prst="roundRect">
            <a:avLst/>
          </a:prstGeom>
          <a:solidFill>
            <a:srgbClr val="F4F7FB"/>
          </a:solidFill>
          <a:ln w="16510">
            <a:solidFill>
              <a:srgbClr val="39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2642616"/>
            <a:ext cx="2734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9844E"/>
                </a:solidFill>
              </a:defRPr>
            </a:pPr>
            <a:r>
              <a:t>Usable</a:t>
            </a:r>
          </a:p>
          <a:p>
            <a:pPr>
              <a:spcBef>
                <a:spcPts val="500"/>
              </a:spcBef>
              <a:defRPr sz="1400">
                <a:solidFill>
                  <a:srgbClr val="1C222B"/>
                </a:solidFill>
              </a:defRPr>
            </a:pPr>
            <a:r>
              <a:t>Bilingual personas, guided prompts, transparent workflow status, and live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6209" y="5166360"/>
            <a:ext cx="5849102" cy="928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C222B"/>
                </a:solidFill>
              </a:defRPr>
            </a:pPr>
            <a:r>
              <a:rPr dirty="0">
                <a:hlinkClick r:id="rId2"/>
              </a:rPr>
              <a:t>Hugging Face: huggingface.co/spaces/Artur-Melnyk/Medical-Insight-Explorer-Agent</a:t>
            </a:r>
            <a:endParaRPr dirty="0"/>
          </a:p>
          <a:p>
            <a:pPr algn="ctr">
              <a:spcBef>
                <a:spcPts val="600"/>
              </a:spcBef>
              <a:defRPr sz="1300">
                <a:solidFill>
                  <a:srgbClr val="1C222B"/>
                </a:solidFill>
              </a:defRPr>
            </a:pPr>
            <a:r>
              <a:rPr dirty="0">
                <a:hlinkClick r:id="rId3"/>
              </a:rPr>
              <a:t>GitHub: github.com/</a:t>
            </a:r>
            <a:r>
              <a:rPr dirty="0" err="1">
                <a:hlinkClick r:id="rId3"/>
              </a:rPr>
              <a:t>ArturMelnyk</a:t>
            </a:r>
            <a:r>
              <a:rPr dirty="0">
                <a:hlinkClick r:id="rId3"/>
              </a:rPr>
              <a:t>-analyst/Medical-Insight-Explorer-Agent</a:t>
            </a:r>
            <a:endParaRPr dirty="0"/>
          </a:p>
          <a:p>
            <a:pPr algn="ctr">
              <a:spcBef>
                <a:spcPts val="1000"/>
              </a:spcBef>
              <a:defRPr sz="1500" b="1">
                <a:solidFill>
                  <a:srgbClr val="122D53"/>
                </a:solidFill>
              </a:defRPr>
            </a:pPr>
            <a:r>
              <a:rPr dirty="0"/>
              <a:t>Artur Melnyk • Applied Data Scientist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901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 Melnyk</cp:lastModifiedBy>
  <cp:revision>5</cp:revision>
  <dcterms:created xsi:type="dcterms:W3CDTF">2013-01-27T09:14:16Z</dcterms:created>
  <dcterms:modified xsi:type="dcterms:W3CDTF">2026-09-03T10:53:20Z</dcterms:modified>
  <cp:category/>
</cp:coreProperties>
</file>