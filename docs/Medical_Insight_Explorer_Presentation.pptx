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8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turMelnyk-analyst/Medical-Insight-Explorer-Agent" TargetMode="External"/><Relationship Id="rId2" Type="http://schemas.openxmlformats.org/officeDocument/2006/relationships/hyperlink" Target="https://huggingface.co/spaces/Artur-Melnyk/Medical-Insight-Explorer-Agent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57084"/>
          </a:xfrm>
        </p:spPr>
        <p:txBody>
          <a:bodyPr>
            <a:noAutofit/>
          </a:bodyPr>
          <a:lstStyle/>
          <a:p>
            <a:r>
              <a:rPr dirty="0"/>
              <a:t>Medical Insight Explorer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12144"/>
            <a:ext cx="914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Artur Melnyk</a:t>
            </a:r>
          </a:p>
          <a:p>
            <a:pPr algn="ctr"/>
            <a:r>
              <a:rPr lang="en-CA" dirty="0"/>
              <a:t>Applied Data Scientist | Healthcare AI • Analytics • ML Systems</a:t>
            </a:r>
            <a:endParaRPr dirty="0"/>
          </a:p>
          <a:p>
            <a:pPr algn="ctr"/>
            <a:r>
              <a:rPr dirty="0"/>
              <a:t>Bilingual conversational healthcare analytics with deterministic insights.</a:t>
            </a:r>
          </a:p>
          <a:p>
            <a:pPr algn="ctr"/>
            <a:r>
              <a:rPr dirty="0" err="1"/>
              <a:t>LangGraph</a:t>
            </a:r>
            <a:r>
              <a:rPr dirty="0"/>
              <a:t> + </a:t>
            </a:r>
            <a:r>
              <a:rPr dirty="0" err="1"/>
              <a:t>Gradio</a:t>
            </a:r>
            <a:r>
              <a:rPr dirty="0"/>
              <a:t> + Hugging Face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32F3A8-1A58-0F49-B5C3-1876A2CD1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0670"/>
            <a:ext cx="9144000" cy="48773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8569" y="1393057"/>
            <a:ext cx="586686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dirty="0"/>
              <a:t>• Healthcare claims data is large and difficult to explore</a:t>
            </a:r>
          </a:p>
          <a:p>
            <a:pPr algn="ctr"/>
            <a:r>
              <a:rPr dirty="0"/>
              <a:t>• Analysts need grounded and deterministic outputs</a:t>
            </a:r>
          </a:p>
          <a:p>
            <a:pPr algn="ctr"/>
            <a:r>
              <a:rPr dirty="0"/>
              <a:t>• LLM systems in healthcare require explainability and safety</a:t>
            </a:r>
          </a:p>
          <a:p>
            <a:pPr algn="ctr"/>
            <a:r>
              <a:rPr dirty="0"/>
              <a:t>• Goal: fast analytics without clinical advice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dirty="0"/>
              <a:t>Project Ecosystem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BFC8C5-5631-848F-A391-3C21F2D7A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6800"/>
            <a:ext cx="9144000" cy="579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8258"/>
          </a:xfrm>
        </p:spPr>
        <p:txBody>
          <a:bodyPr>
            <a:noAutofit/>
          </a:bodyPr>
          <a:lstStyle/>
          <a:p>
            <a:r>
              <a:rPr dirty="0"/>
              <a:t>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0DDB7A-79AB-D571-F87B-6F94A87D8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8258"/>
            <a:ext cx="9144000" cy="61697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8035D-3433-0172-A5F1-38CE48983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0103"/>
          </a:xfrm>
        </p:spPr>
        <p:txBody>
          <a:bodyPr>
            <a:noAutofit/>
          </a:bodyPr>
          <a:lstStyle/>
          <a:p>
            <a:r>
              <a:rPr lang="en-CA" dirty="0"/>
              <a:t>Technical Design Choices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D91D2D6-58BA-93C3-1CC5-AB137A7FD0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39983"/>
              </p:ext>
            </p:extLst>
          </p:nvPr>
        </p:nvGraphicFramePr>
        <p:xfrm>
          <a:off x="-1" y="838201"/>
          <a:ext cx="9144000" cy="5705339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185355083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3358966533"/>
                    </a:ext>
                  </a:extLst>
                </a:gridCol>
              </a:tblGrid>
              <a:tr h="4538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Design Decision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Why it was implemented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546426"/>
                  </a:ext>
                </a:extLst>
              </a:tr>
              <a:tr h="9912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 dirty="0"/>
                        <a:t>Compute First → Explain Second</a:t>
                      </a:r>
                      <a:endParaRPr lang="en-CA" sz="1700" dirty="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dirty="0"/>
                        <a:t>Deterministic pandas analytics run before AI explanations to prevent fabricated healthcare statistics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163594"/>
                  </a:ext>
                </a:extLst>
              </a:tr>
              <a:tr h="10194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 dirty="0"/>
                        <a:t>Controlled Analytics Routing</a:t>
                      </a:r>
                      <a:endParaRPr lang="en-CA" sz="1700" dirty="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dirty="0"/>
                        <a:t>User questions are routed only to predefined functions; the LLM never receives direct </a:t>
                      </a:r>
                      <a:r>
                        <a:rPr lang="en-CA" sz="1700" dirty="0" err="1"/>
                        <a:t>DataFrame</a:t>
                      </a:r>
                      <a:r>
                        <a:rPr lang="en-CA" sz="1700" dirty="0"/>
                        <a:t> access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989785"/>
                  </a:ext>
                </a:extLst>
              </a:tr>
              <a:tr h="966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 dirty="0"/>
                        <a:t>Sample Data Deployment Strategy</a:t>
                      </a:r>
                      <a:endParaRPr lang="en-CA" sz="1700" dirty="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dirty="0"/>
                        <a:t>Lightweight sample datasets were used to satisfy Hugging Face memory and runtime constraints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7029532"/>
                  </a:ext>
                </a:extLst>
              </a:tr>
              <a:tr h="794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 dirty="0"/>
                        <a:t>Localized Bilingual UX</a:t>
                      </a:r>
                      <a:endParaRPr lang="en-CA" sz="1700" dirty="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English and German interaction improves accessibility and recruiter usability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577214"/>
                  </a:ext>
                </a:extLst>
              </a:tr>
              <a:tr h="1480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 dirty="0"/>
                        <a:t>Conditional Visualization Routing</a:t>
                      </a:r>
                    </a:p>
                    <a:p>
                      <a:pPr>
                        <a:buNone/>
                      </a:pPr>
                      <a:endParaRPr lang="en-CA" sz="1700" b="1" dirty="0"/>
                    </a:p>
                    <a:p>
                      <a:pPr marL="0" algn="l" defTabSz="457200" rtl="0" eaLnBrk="1" latinLnBrk="0" hangingPunct="1">
                        <a:buNone/>
                      </a:pPr>
                      <a:r>
                        <a:rPr lang="en-US" sz="17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Persona-Guided Workflow </a:t>
                      </a:r>
                      <a:endParaRPr lang="en-CA" sz="17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n-CA" sz="1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Plotly charts are generated only for supported analytical routes to avoid misleading outputs</a:t>
                      </a:r>
                    </a:p>
                    <a:p>
                      <a:pPr marL="0" algn="l" defTabSz="457200" rtl="0" eaLnBrk="1" latinLnBrk="0" hangingPunct="1">
                        <a:buNone/>
                      </a:pPr>
                      <a:endParaRPr lang="en-CA" sz="1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0" hangingPunct="1">
                        <a:buNone/>
                      </a:pPr>
                      <a:r>
                        <a:rPr lang="en-US" sz="17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Stakeholder personas clarify who uses the app and why</a:t>
                      </a:r>
                      <a:endParaRPr lang="en-CA" sz="1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820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5DFB40C-0817-ACC0-5083-E60396D8B967}"/>
              </a:ext>
            </a:extLst>
          </p:cNvPr>
          <p:cNvSpPr txBox="1"/>
          <p:nvPr/>
        </p:nvSpPr>
        <p:spPr>
          <a:xfrm>
            <a:off x="1" y="554818"/>
            <a:ext cx="9143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b="1" dirty="0"/>
              <a:t>Engineering decisions used to improve reliability, safety, and deployment stability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EC2F86-13F6-3AB4-30D3-3D6BEFDAE49E}"/>
              </a:ext>
            </a:extLst>
          </p:cNvPr>
          <p:cNvSpPr txBox="1"/>
          <p:nvPr/>
        </p:nvSpPr>
        <p:spPr>
          <a:xfrm>
            <a:off x="0" y="6543539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b="1" dirty="0"/>
              <a:t>Design principle:</a:t>
            </a:r>
            <a:r>
              <a:rPr lang="en-CA" dirty="0"/>
              <a:t> Safe computation → persona guidance → analytical insight → visualization</a:t>
            </a:r>
          </a:p>
        </p:txBody>
      </p:sp>
    </p:spTree>
    <p:extLst>
      <p:ext uri="{BB962C8B-B14F-4D97-AF65-F5344CB8AC3E}">
        <p14:creationId xmlns:p14="http://schemas.microsoft.com/office/powerpoint/2010/main" val="1361721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09431-3E89-BBC4-5373-2884D63FF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267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Evolution: From Generic Demo to Guided Analytics</a:t>
            </a:r>
            <a:endParaRPr lang="en-C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E2B80F-2E46-4957-D4BE-49449E70F028}"/>
              </a:ext>
            </a:extLst>
          </p:cNvPr>
          <p:cNvSpPr txBox="1"/>
          <p:nvPr/>
        </p:nvSpPr>
        <p:spPr>
          <a:xfrm>
            <a:off x="0" y="1469571"/>
            <a:ext cx="47026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Before:</a:t>
            </a:r>
          </a:p>
          <a:p>
            <a:r>
              <a:rPr lang="en-US" dirty="0"/>
              <a:t>• Generic healthcare analytics chatbot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• Example prompts without stakeholder context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• Outputs focused mostly on computed tables and charts</a:t>
            </a:r>
          </a:p>
          <a:p>
            <a:endParaRPr lang="en-US" dirty="0"/>
          </a:p>
          <a:p>
            <a:r>
              <a:rPr lang="en-US" dirty="0"/>
              <a:t>• Purpose was less clear for non-technical healthcare reviewers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E858F2-7356-662B-E25E-B4751281DDE6}"/>
              </a:ext>
            </a:extLst>
          </p:cNvPr>
          <p:cNvSpPr txBox="1"/>
          <p:nvPr/>
        </p:nvSpPr>
        <p:spPr>
          <a:xfrm>
            <a:off x="4572001" y="1469571"/>
            <a:ext cx="4572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After:</a:t>
            </a:r>
          </a:p>
          <a:p>
            <a:r>
              <a:rPr lang="en-CA" dirty="0"/>
              <a:t>• Stakeholder personas clarify who uses the app</a:t>
            </a:r>
          </a:p>
          <a:p>
            <a:endParaRPr lang="en-CA" dirty="0"/>
          </a:p>
          <a:p>
            <a:r>
              <a:rPr lang="en-CA" dirty="0"/>
              <a:t>• Clickable guided prompts support faster demo exploration</a:t>
            </a:r>
          </a:p>
          <a:p>
            <a:endParaRPr lang="en-CA" dirty="0"/>
          </a:p>
          <a:p>
            <a:r>
              <a:rPr lang="en-CA" dirty="0"/>
              <a:t>• Analytical insight layer explains what results may indicate</a:t>
            </a:r>
          </a:p>
          <a:p>
            <a:endParaRPr lang="en-CA" dirty="0"/>
          </a:p>
          <a:p>
            <a:r>
              <a:rPr lang="en-CA" dirty="0"/>
              <a:t>• Safer claims-analytics framing avoids clinical overclaiming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6C224-9895-E9C7-7E7B-5358FE5C76ED}"/>
              </a:ext>
            </a:extLst>
          </p:cNvPr>
          <p:cNvSpPr txBox="1"/>
          <p:nvPr/>
        </p:nvSpPr>
        <p:spPr>
          <a:xfrm>
            <a:off x="0" y="5388429"/>
            <a:ext cx="9144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Result</a:t>
            </a:r>
            <a:r>
              <a:rPr lang="en-US" dirty="0"/>
              <a:t>: The app evolved from a technical demo into a persona-guided healthcare claims analytics assistant.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55465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12142"/>
            <a:ext cx="91439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/>
              <a:t>✓ English/German UX</a:t>
            </a:r>
          </a:p>
          <a:p>
            <a:pPr algn="ctr"/>
            <a:r>
              <a:rPr lang="en-CA" dirty="0"/>
              <a:t>✓ Stakeholder personas</a:t>
            </a:r>
          </a:p>
          <a:p>
            <a:pPr algn="ctr"/>
            <a:r>
              <a:rPr lang="en-CA" dirty="0"/>
              <a:t>✓ Clickable guided prompts</a:t>
            </a:r>
          </a:p>
          <a:p>
            <a:pPr algn="ctr"/>
            <a:r>
              <a:rPr lang="en-CA" dirty="0"/>
              <a:t>✓ Deterministic analytics</a:t>
            </a:r>
          </a:p>
          <a:p>
            <a:pPr algn="ctr"/>
            <a:r>
              <a:rPr lang="en-CA" dirty="0"/>
              <a:t>✓ Analytical insight layer</a:t>
            </a:r>
          </a:p>
          <a:p>
            <a:pPr algn="ctr"/>
            <a:r>
              <a:rPr lang="en-CA" dirty="0"/>
              <a:t>✓ Plotly charts</a:t>
            </a:r>
          </a:p>
          <a:p>
            <a:pPr algn="ctr"/>
            <a:r>
              <a:rPr lang="en-CA" dirty="0"/>
              <a:t>✓ </a:t>
            </a:r>
            <a:r>
              <a:rPr lang="en-CA" dirty="0" err="1"/>
              <a:t>LangGraph</a:t>
            </a:r>
            <a:r>
              <a:rPr lang="en-CA" dirty="0"/>
              <a:t> orchestration</a:t>
            </a:r>
          </a:p>
          <a:p>
            <a:pPr algn="ctr"/>
            <a:r>
              <a:rPr lang="en-CA" dirty="0"/>
              <a:t>✓ Hugging Face deployment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47252"/>
          </a:xfrm>
        </p:spPr>
        <p:txBody>
          <a:bodyPr>
            <a:noAutofit/>
          </a:bodyPr>
          <a:lstStyle/>
          <a:p>
            <a:r>
              <a:rPr dirty="0"/>
              <a:t>English Demo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26FAE9-9808-ADDE-9084-A24EA3DB5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0486"/>
            <a:ext cx="9144000" cy="62375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dirty="0"/>
              <a:t>German Demo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065F4C-CE5D-45CD-E821-451F976AA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4657"/>
            <a:ext cx="9144000" cy="60633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1277"/>
          </a:xfrm>
        </p:spPr>
        <p:txBody>
          <a:bodyPr>
            <a:noAutofit/>
          </a:bodyPr>
          <a:lstStyle/>
          <a:p>
            <a:r>
              <a:rPr dirty="0"/>
              <a:t>Analytics Outputs</a:t>
            </a:r>
          </a:p>
        </p:txBody>
      </p:sp>
      <p:pic>
        <p:nvPicPr>
          <p:cNvPr id="3" name="Picture 2" descr="top_10_inpatient_providers_by_claim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" y="456497"/>
            <a:ext cx="9144000" cy="25911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7547B5-E0FD-4AA7-06C7-457CDB333BC2}"/>
              </a:ext>
            </a:extLst>
          </p:cNvPr>
          <p:cNvSpPr txBox="1"/>
          <p:nvPr/>
        </p:nvSpPr>
        <p:spPr>
          <a:xfrm>
            <a:off x="2" y="6346723"/>
            <a:ext cx="91439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Insight: </a:t>
            </a:r>
            <a:r>
              <a:rPr lang="en-US" sz="1400" dirty="0"/>
              <a:t>Inpatient reimbursements are strongly right-skewed. Most claims are concentrated in lower-to-mid reimbursement ranges, while a smaller group of high-cost claims extends toward the upper cap.</a:t>
            </a:r>
            <a:endParaRPr lang="en-CA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95F691-1247-B2DE-2192-91719544991C}"/>
              </a:ext>
            </a:extLst>
          </p:cNvPr>
          <p:cNvSpPr txBox="1"/>
          <p:nvPr/>
        </p:nvSpPr>
        <p:spPr>
          <a:xfrm>
            <a:off x="-1" y="3102429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Insight: </a:t>
            </a:r>
            <a:r>
              <a:rPr lang="en-US" sz="1400" dirty="0"/>
              <a:t>Provider activity is concentrated among a small subset of institutions, which can support utilization monitoring and operational review</a:t>
            </a:r>
            <a:r>
              <a:rPr lang="en-US" sz="1400" b="1" dirty="0"/>
              <a:t>.</a:t>
            </a:r>
            <a:endParaRPr lang="en-CA"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AA4F40-D218-68A7-7094-4FACF37D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" y="3625649"/>
            <a:ext cx="9144000" cy="27210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&amp; Responsible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9144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✓ Claims analytics only</a:t>
            </a:r>
          </a:p>
          <a:p>
            <a:pPr algn="ctr"/>
            <a:r>
              <a:rPr dirty="0"/>
              <a:t>✓ No diagnosis</a:t>
            </a:r>
          </a:p>
          <a:p>
            <a:pPr algn="ctr"/>
            <a:r>
              <a:rPr dirty="0"/>
              <a:t>✓ No treatment recommendations</a:t>
            </a:r>
          </a:p>
          <a:p>
            <a:pPr algn="ctr"/>
            <a:r>
              <a:rPr dirty="0"/>
              <a:t>✓ Explainable deterministic calculations</a:t>
            </a:r>
          </a:p>
          <a:p>
            <a:pPr algn="ctr"/>
            <a:r>
              <a:rPr dirty="0"/>
              <a:t>✓ Safer healthcare AI interaction</a:t>
            </a:r>
            <a:endParaRPr lang="en-US" dirty="0"/>
          </a:p>
          <a:p>
            <a:pPr algn="ctr"/>
            <a:r>
              <a:rPr lang="en-US" dirty="0"/>
              <a:t>✓ Personas guide workflows only</a:t>
            </a:r>
          </a:p>
          <a:p>
            <a:pPr algn="ctr"/>
            <a:r>
              <a:rPr lang="en-US" dirty="0"/>
              <a:t>✓ No clinical decision-making</a:t>
            </a:r>
          </a:p>
          <a:p>
            <a:pPr algn="ctr"/>
            <a:r>
              <a:rPr lang="en-US" dirty="0"/>
              <a:t>✓ No causal medical conclusions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225689"/>
            <a:ext cx="91440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b="1" dirty="0"/>
              <a:t>Key Takeaways</a:t>
            </a:r>
            <a:endParaRPr lang="en-CA" dirty="0"/>
          </a:p>
          <a:p>
            <a:pPr algn="ctr"/>
            <a:r>
              <a:rPr lang="en-CA" dirty="0"/>
              <a:t>✓ Persona-guided healthcare analytics</a:t>
            </a:r>
          </a:p>
          <a:p>
            <a:pPr algn="ctr"/>
            <a:r>
              <a:rPr lang="en-CA" dirty="0"/>
              <a:t>✓ Explainable deterministic workflow</a:t>
            </a:r>
          </a:p>
          <a:p>
            <a:pPr algn="ctr"/>
            <a:r>
              <a:rPr lang="en-CA" dirty="0"/>
              <a:t>✓ Live Hugging Face deployment</a:t>
            </a:r>
          </a:p>
          <a:p>
            <a:pPr algn="ctr"/>
            <a:r>
              <a:rPr lang="en-CA" dirty="0"/>
              <a:t>✓ Bilingual recruiter-ready UX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Hugging Face:</a:t>
            </a:r>
          </a:p>
          <a:p>
            <a:r>
              <a:rPr dirty="0">
                <a:hlinkClick r:id="rId2"/>
              </a:rPr>
              <a:t>https://huggingface.co/spaces/Artur-Melnyk/Medical-Insight-Explorer-Agent</a:t>
            </a:r>
            <a:endParaRPr lang="en-US" dirty="0"/>
          </a:p>
          <a:p>
            <a:endParaRPr dirty="0"/>
          </a:p>
          <a:p>
            <a:r>
              <a:rPr dirty="0"/>
              <a:t>GitHub:</a:t>
            </a:r>
          </a:p>
          <a:p>
            <a:r>
              <a:rPr dirty="0">
                <a:hlinkClick r:id="rId3"/>
              </a:rPr>
              <a:t>https://github.com/ArturMelnyk-analyst/Medical-Insight-Explorer-Agent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algn="ctr"/>
            <a:r>
              <a:rPr lang="en-CA" dirty="0"/>
              <a:t>Built using: Python • Pandas • Plotly • </a:t>
            </a:r>
            <a:r>
              <a:rPr lang="en-CA" dirty="0" err="1"/>
              <a:t>Gradio</a:t>
            </a:r>
            <a:r>
              <a:rPr lang="en-CA" dirty="0"/>
              <a:t> • </a:t>
            </a:r>
            <a:r>
              <a:rPr lang="en-CA" dirty="0" err="1"/>
              <a:t>LangGraph</a:t>
            </a:r>
            <a:r>
              <a:rPr lang="en-CA" dirty="0"/>
              <a:t> • Hugging Face</a:t>
            </a:r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1364</TotalTime>
  <Words>477</Words>
  <Application>Microsoft Office PowerPoint</Application>
  <PresentationFormat>On-screen Show (4:3)</PresentationFormat>
  <Paragraphs>93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Medical Insight Explorer Agent</vt:lpstr>
      <vt:lpstr>Business Problem</vt:lpstr>
      <vt:lpstr>Project Ecosystem</vt:lpstr>
      <vt:lpstr>Architecture</vt:lpstr>
      <vt:lpstr>Technical Design Choices</vt:lpstr>
      <vt:lpstr>Product Evolution: From Generic Demo to Guided Analytics</vt:lpstr>
      <vt:lpstr>Key Features</vt:lpstr>
      <vt:lpstr>English Demo</vt:lpstr>
      <vt:lpstr>German Demo</vt:lpstr>
      <vt:lpstr>Analytics Outputs</vt:lpstr>
      <vt:lpstr>Safety &amp; Responsible AI</vt:lpstr>
      <vt:lpstr>Live Demo &amp; Portfolio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Artur Melnyk</dc:creator>
  <cp:keywords/>
  <dc:description>generated using python-pptx</dc:description>
  <cp:lastModifiedBy>Artur Melnyk</cp:lastModifiedBy>
  <cp:revision>11</cp:revision>
  <dcterms:created xsi:type="dcterms:W3CDTF">2013-01-27T09:14:16Z</dcterms:created>
  <dcterms:modified xsi:type="dcterms:W3CDTF">2026-06-15T12:58:49Z</dcterms:modified>
  <cp:category/>
</cp:coreProperties>
</file>